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Anatomn. АШУҮИС-ийн оюутнуудад зориулсан нэг вэб. Зузаан ном үүрэхгүй.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1,000 оюутны асуудал нэг. Багш нар хүнд, зузаан номыг үнэтэй авдаг. Бид түүнийг нэг вэб апп дотор шийднэ. 1,000 нь эхний пилот, судалгааны хувь биш.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Бодит үнэ. Gray's Anatomy for Students 5e, Elsevier, $94.99, 1,168 нүүр. Netter Atlas 9e, Elsevier original $84.99, 736 нүүр. Gray's Atlas, Matthews RUSH bookstore, $89.99. АНУ-ын нээлттэй үнэ. Монголд хүргэлт нэмэгдэнэ.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$269.97 × Монголбанк 2026.10.28-ны ₮3,598.76 = 971,557₮, слайд дээр 972,000₮. Anatomn-ийн жилийн багц 49,000₮. 19.8 дахин, слайд дээр 20×.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Нэг холбоос: 3D атлас, AI багш, шалгалт, хугарлын лаб, судсны лаб. AI багш Gray's-ийн 8 бүлгийн бүтцэд зангуудсан. Номын текстийг хуулдаггүй.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Одоо нээлттэй. 2,763 сонгож болох бүтэц, 16 систем, насанд хүрэгчийн 205/206 яс, 6 шалгалт × 25 асуулт.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Яагаад Anatomn. Монгол + латин. AI багш Gray's-ийн бүлэгт зангуудсан. Хугарлын лаб апп дотор. Ном дээр монгол хязгаартай, AI ба хугарал байхгүй. Гадаад 3D ихэвчлэн зөвхөн англи, хугарлын лаб өндөр үнэтэй, жил нь $80–120. Манай үнэ 49,000₮/жил.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Сургууль авна. Нэг суудал жилд 49,000₮. 1,000 суудал = 49 сая₮. Оюутан 0₮. Сургуулиас гадуур сарын багц 9,900₮. Хоёр үнэ апп дээр байна. Төлбөр QPay, SocialPay, банкаар.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1,000 оюутан × 972,000₮ ≈ 972 сая ном. Лиценз 49 сая. Зөрүү 923 сая. АШУҮИС 14,200 суралцагч, mnums.edu.mn, 2026.10.28. Их эмчийн кредит 170,000₮, Eguur 2025.08.20. ~30 кредит × 170,000 = 5.1 сая. 3 ном ≈ жилийн төлбөрийн 19%.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Хүсэлт: АШУҮИС дээр 1,000 суудлын пилот. Холбоос нээлттэй.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9D2C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064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420">
                <a:solidFill>
                  <a:srgbClr val="A3988A"/>
                </a:solidFill>
                <a:latin typeface="Inter"/>
              </a:rPr>
              <a:t>ANATOMN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406400"/>
            <a:ext cx="1422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spc="162">
                <a:solidFill>
                  <a:srgbClr val="A3988A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905000"/>
            <a:ext cx="10160000" cy="203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spc="-288">
                <a:solidFill>
                  <a:srgbClr val="F3ECDF"/>
                </a:solidFill>
                <a:latin typeface="Inter"/>
              </a:rPr>
              <a:t>Нэг вэб.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spc="-288">
                <a:solidFill>
                  <a:srgbClr val="F3ECDF"/>
                </a:solidFill>
                <a:latin typeface="Inter"/>
              </a:rPr>
              <a:t>Зузаан номгүй.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096000"/>
            <a:ext cx="317500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spc="0">
                <a:solidFill>
                  <a:srgbClr val="A3988A"/>
                </a:solidFill>
                <a:latin typeface="Inter"/>
              </a:rPr>
              <a:t>АШУҮИС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0" y="6096000"/>
            <a:ext cx="396240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spc="0">
                <a:solidFill>
                  <a:srgbClr val="A3988A"/>
                </a:solidFill>
                <a:latin typeface="Inter"/>
              </a:rPr>
              <a:t>1,000 оюутан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06400"/>
            <a:ext cx="4445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252">
                <a:solidFill>
                  <a:srgbClr val="8A8175"/>
                </a:solidFill>
                <a:latin typeface="Inter"/>
              </a:rPr>
              <a:t>АСУУДАЛ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0" y="406400"/>
            <a:ext cx="1422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spc="162">
                <a:solidFill>
                  <a:srgbClr val="8A8175"/>
                </a:solidFill>
                <a:latin typeface="Inter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905000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0" b="1" spc="-600">
                <a:solidFill>
                  <a:srgbClr val="141816"/>
                </a:solidFill>
                <a:latin typeface="Inter"/>
              </a:rPr>
              <a:t>1,000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3556000"/>
            <a:ext cx="5080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spc="0">
                <a:solidFill>
                  <a:srgbClr val="141816"/>
                </a:solidFill>
                <a:latin typeface="Inter"/>
              </a:rPr>
              <a:t>оюутан · нэг асуудал</a:t>
            </a:r>
          </a:p>
        </p:txBody>
      </p:sp>
      <p:sp>
        <p:nvSpPr>
          <p:cNvPr id="6" name="Rectangle 5"/>
          <p:cNvSpPr/>
          <p:nvPr/>
        </p:nvSpPr>
        <p:spPr>
          <a:xfrm>
            <a:off x="6223000" y="1905000"/>
            <a:ext cx="6350" cy="2286000"/>
          </a:xfrm>
          <a:prstGeom prst="rect">
            <a:avLst/>
          </a:prstGeom>
          <a:solidFill>
            <a:srgbClr val="D9D0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4000" y="2032000"/>
            <a:ext cx="4953000" cy="203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spc="-189">
                <a:solidFill>
                  <a:srgbClr val="141816"/>
                </a:solidFill>
                <a:latin typeface="Inter"/>
              </a:rPr>
              <a:t>Хүнд.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spc="-189">
                <a:solidFill>
                  <a:srgbClr val="141816"/>
                </a:solidFill>
                <a:latin typeface="Inter"/>
              </a:rPr>
              <a:t>Зузаан.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spc="-189">
                <a:solidFill>
                  <a:srgbClr val="141816"/>
                </a:solidFill>
                <a:latin typeface="Inter"/>
              </a:rPr>
              <a:t>Үнэтэй ном.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350000"/>
            <a:ext cx="10972800" cy="35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spc="0">
                <a:solidFill>
                  <a:srgbClr val="8A8175"/>
                </a:solidFill>
                <a:latin typeface="Inter"/>
              </a:rPr>
              <a:t>Багш, оюутан энэ номыг авдаг. Бүгдийг нэг вэб апп дотор.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06400"/>
            <a:ext cx="4445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252">
                <a:solidFill>
                  <a:srgbClr val="8A8175"/>
                </a:solidFill>
                <a:latin typeface="Inter"/>
              </a:rPr>
              <a:t>БОДИТ ҮНЭ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0" y="406400"/>
            <a:ext cx="1422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spc="162">
                <a:solidFill>
                  <a:srgbClr val="8A8175"/>
                </a:solidFill>
                <a:latin typeface="Inter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270000"/>
            <a:ext cx="3536950" cy="3937000"/>
          </a:xfrm>
          <a:prstGeom prst="rect">
            <a:avLst/>
          </a:prstGeom>
          <a:solidFill>
            <a:srgbClr val="1418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1498600"/>
            <a:ext cx="30480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spc="-128">
                <a:solidFill>
                  <a:srgbClr val="F3ECDF"/>
                </a:solidFill>
                <a:latin typeface="Inter"/>
              </a:rPr>
              <a:t>$94.99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00" y="3937000"/>
            <a:ext cx="3048000" cy="63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spc="0">
                <a:solidFill>
                  <a:srgbClr val="F3ECDF"/>
                </a:solidFill>
                <a:latin typeface="Inter"/>
              </a:rPr>
              <a:t>Gray's Anatomy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spc="0">
                <a:solidFill>
                  <a:srgbClr val="F3ECDF"/>
                </a:solidFill>
                <a:latin typeface="Inter"/>
              </a:rPr>
              <a:t>for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600" y="4699000"/>
            <a:ext cx="3048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B7AD9F"/>
                </a:solidFill>
                <a:latin typeface="Inter"/>
              </a:rPr>
              <a:t>5-р хэвлэл · 1,168 нүүр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4350" y="1270000"/>
            <a:ext cx="3536950" cy="3937000"/>
          </a:xfrm>
          <a:prstGeom prst="rect">
            <a:avLst/>
          </a:prstGeom>
          <a:solidFill>
            <a:srgbClr val="9D2C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8350" y="1498600"/>
            <a:ext cx="30480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spc="-128">
                <a:solidFill>
                  <a:srgbClr val="F3ECDF"/>
                </a:solidFill>
                <a:latin typeface="Inter"/>
              </a:rPr>
              <a:t>$84.99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8350" y="3937000"/>
            <a:ext cx="3048000" cy="63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spc="0">
                <a:solidFill>
                  <a:srgbClr val="F3ECDF"/>
                </a:solidFill>
                <a:latin typeface="Inter"/>
              </a:rPr>
              <a:t>Netter Atlas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spc="0">
                <a:solidFill>
                  <a:srgbClr val="F3ECDF"/>
                </a:solidFill>
                <a:latin typeface="Inter"/>
              </a:rPr>
              <a:t>of Human Anatomy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8350" y="4699000"/>
            <a:ext cx="3048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F3D0CC"/>
                </a:solidFill>
                <a:latin typeface="Inter"/>
              </a:rPr>
              <a:t>9-р хэвлэл · 736 нүүр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39100" y="1270000"/>
            <a:ext cx="3536950" cy="3937000"/>
          </a:xfrm>
          <a:prstGeom prst="rect">
            <a:avLst/>
          </a:prstGeom>
          <a:solidFill>
            <a:srgbClr val="E7DFD0"/>
          </a:solidFill>
          <a:ln w="6350">
            <a:solidFill>
              <a:srgbClr val="CFC6B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100" y="1498600"/>
            <a:ext cx="30480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spc="-128">
                <a:solidFill>
                  <a:srgbClr val="141816"/>
                </a:solidFill>
                <a:latin typeface="Inter"/>
              </a:rPr>
              <a:t>$89.99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100" y="3937000"/>
            <a:ext cx="3048000" cy="63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spc="0">
                <a:solidFill>
                  <a:srgbClr val="141816"/>
                </a:solidFill>
                <a:latin typeface="Inter"/>
              </a:rPr>
              <a:t>Gray's Atlas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spc="0">
                <a:solidFill>
                  <a:srgbClr val="141816"/>
                </a:solidFill>
                <a:latin typeface="Inter"/>
              </a:rPr>
              <a:t>of Anatomy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100" y="4699000"/>
            <a:ext cx="3048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8A8175"/>
                </a:solidFill>
                <a:latin typeface="Inter"/>
              </a:rPr>
              <a:t>Номын дэлгүүрийн үнэ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350000"/>
            <a:ext cx="10972800" cy="35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spc="0">
                <a:solidFill>
                  <a:srgbClr val="8A8175"/>
                </a:solidFill>
                <a:latin typeface="Inter"/>
              </a:rPr>
              <a:t>Elsevier list · Matthews RUSH bookstore. АНУ-ын нээлттэй үнэ. Монголд хүргэлт нэмэгдэнэ.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06400"/>
            <a:ext cx="4445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252">
                <a:solidFill>
                  <a:srgbClr val="A3988A"/>
                </a:solidFill>
                <a:latin typeface="Inter"/>
              </a:rPr>
              <a:t>ХАРЬЦУУЛАЛТ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0" y="406400"/>
            <a:ext cx="1422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spc="162">
                <a:solidFill>
                  <a:srgbClr val="A3988A"/>
                </a:solidFill>
                <a:latin typeface="Inter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540000"/>
            <a:ext cx="4572000" cy="698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spc="-200">
                <a:solidFill>
                  <a:srgbClr val="F3ECDF"/>
                </a:solidFill>
                <a:latin typeface="Inter"/>
              </a:rPr>
              <a:t>972,000₮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302000"/>
            <a:ext cx="45720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A3988A"/>
                </a:solidFill>
                <a:latin typeface="Inter"/>
              </a:rPr>
              <a:t>3 ном · нэг оюутан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07000" y="2438400"/>
            <a:ext cx="2032000" cy="825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000" b="1" spc="-300">
                <a:solidFill>
                  <a:srgbClr val="9D2C2C"/>
                </a:solidFill>
                <a:latin typeface="Inter"/>
              </a:rPr>
              <a:t>20×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3000" y="2540000"/>
            <a:ext cx="4064000" cy="698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spc="-200">
                <a:solidFill>
                  <a:srgbClr val="F3ECDF"/>
                </a:solidFill>
                <a:latin typeface="Inter"/>
              </a:rPr>
              <a:t>49,000₮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3000" y="3302000"/>
            <a:ext cx="40640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A3988A"/>
                </a:solidFill>
                <a:latin typeface="Inter"/>
              </a:rPr>
              <a:t>Anatomn · 1 жил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350000"/>
            <a:ext cx="10972800" cy="35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spc="0">
                <a:solidFill>
                  <a:srgbClr val="6F675E"/>
                </a:solidFill>
                <a:latin typeface="Inter"/>
              </a:rPr>
              <a:t>$269.97 × ₮3,598.76 = 971,557₮. Монголбанк, 2026.10.28. Жилийн үнэ бүтээгдэхүүн дээрх багц.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06400"/>
            <a:ext cx="4445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252">
                <a:solidFill>
                  <a:srgbClr val="8A8175"/>
                </a:solidFill>
                <a:latin typeface="Inter"/>
              </a:rPr>
              <a:t>ШИЙДЭЛ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0" y="406400"/>
            <a:ext cx="1422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spc="162">
                <a:solidFill>
                  <a:srgbClr val="8A8175"/>
                </a:solidFill>
                <a:latin typeface="Inter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8890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spc="-189">
                <a:solidFill>
                  <a:srgbClr val="141816"/>
                </a:solidFill>
                <a:latin typeface="Inter"/>
              </a:rPr>
              <a:t>Нэг вэб апп.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2095500"/>
            <a:ext cx="10972800" cy="6350"/>
          </a:xfrm>
          <a:prstGeom prst="rect">
            <a:avLst/>
          </a:prstGeom>
          <a:solidFill>
            <a:srgbClr val="D9D0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2298700"/>
            <a:ext cx="63500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spc="154">
                <a:solidFill>
                  <a:srgbClr val="8A8175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35200"/>
            <a:ext cx="8890000" cy="406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spc="-66">
                <a:solidFill>
                  <a:srgbClr val="141816"/>
                </a:solidFill>
                <a:latin typeface="Inter"/>
              </a:rPr>
              <a:t>3D атлас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806700"/>
            <a:ext cx="10972800" cy="6350"/>
          </a:xfrm>
          <a:prstGeom prst="rect">
            <a:avLst/>
          </a:prstGeom>
          <a:solidFill>
            <a:srgbClr val="D9D0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3009900"/>
            <a:ext cx="63500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spc="154">
                <a:solidFill>
                  <a:srgbClr val="8A8175"/>
                </a:solidFill>
                <a:latin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6400"/>
            <a:ext cx="8890000" cy="406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spc="-66">
                <a:solidFill>
                  <a:srgbClr val="141816"/>
                </a:solidFill>
                <a:latin typeface="Inter"/>
              </a:rPr>
              <a:t>AI багш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517900"/>
            <a:ext cx="10972800" cy="6350"/>
          </a:xfrm>
          <a:prstGeom prst="rect">
            <a:avLst/>
          </a:prstGeom>
          <a:solidFill>
            <a:srgbClr val="D9D0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3721100"/>
            <a:ext cx="63500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spc="154">
                <a:solidFill>
                  <a:srgbClr val="8A8175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57600"/>
            <a:ext cx="8890000" cy="406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spc="-66">
                <a:solidFill>
                  <a:srgbClr val="141816"/>
                </a:solidFill>
                <a:latin typeface="Inter"/>
              </a:rPr>
              <a:t>Шалгалт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4229100"/>
            <a:ext cx="10972800" cy="6350"/>
          </a:xfrm>
          <a:prstGeom prst="rect">
            <a:avLst/>
          </a:prstGeom>
          <a:solidFill>
            <a:srgbClr val="D9D0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4432300"/>
            <a:ext cx="63500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spc="154">
                <a:solidFill>
                  <a:srgbClr val="8A8175"/>
                </a:solidFill>
                <a:latin typeface="Inter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368800"/>
            <a:ext cx="8890000" cy="406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spc="-66">
                <a:solidFill>
                  <a:srgbClr val="141816"/>
                </a:solidFill>
                <a:latin typeface="Inter"/>
              </a:rPr>
              <a:t>Хугарал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4940300"/>
            <a:ext cx="10972800" cy="6350"/>
          </a:xfrm>
          <a:prstGeom prst="rect">
            <a:avLst/>
          </a:prstGeom>
          <a:solidFill>
            <a:srgbClr val="D9D0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143500"/>
            <a:ext cx="63500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spc="154">
                <a:solidFill>
                  <a:srgbClr val="8A8175"/>
                </a:solidFill>
                <a:latin typeface="Inter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080000"/>
            <a:ext cx="8890000" cy="406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spc="-66">
                <a:solidFill>
                  <a:srgbClr val="141816"/>
                </a:solidFill>
                <a:latin typeface="Inter"/>
              </a:rPr>
              <a:t>Судас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5651500"/>
            <a:ext cx="10972800" cy="6350"/>
          </a:xfrm>
          <a:prstGeom prst="rect">
            <a:avLst/>
          </a:prstGeom>
          <a:solidFill>
            <a:srgbClr val="D9D0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06400"/>
            <a:ext cx="4445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252">
                <a:solidFill>
                  <a:srgbClr val="A3988A"/>
                </a:solidFill>
                <a:latin typeface="Inter"/>
              </a:rPr>
              <a:t>ОДОО АЖИЛЛАЖ БАЙНА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0" y="406400"/>
            <a:ext cx="1422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spc="162">
                <a:solidFill>
                  <a:srgbClr val="A3988A"/>
                </a:solidFill>
                <a:latin typeface="Inter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270000"/>
            <a:ext cx="8890000" cy="1397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0" b="1" spc="-540">
                <a:solidFill>
                  <a:srgbClr val="F3ECDF"/>
                </a:solidFill>
                <a:latin typeface="Inter"/>
              </a:rPr>
              <a:t>2,763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667000"/>
            <a:ext cx="508000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spc="0">
                <a:solidFill>
                  <a:srgbClr val="8A8175"/>
                </a:solidFill>
                <a:latin typeface="Inter"/>
              </a:rPr>
              <a:t>сонгож болох бүтэц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334000"/>
            <a:ext cx="33020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spc="-120">
                <a:solidFill>
                  <a:srgbClr val="F3ECDF"/>
                </a:solidFill>
                <a:latin typeface="Inter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905500"/>
            <a:ext cx="3302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8A8175"/>
                </a:solidFill>
                <a:latin typeface="Inter"/>
              </a:rPr>
              <a:t>биеийн систем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30700" y="5334000"/>
            <a:ext cx="33020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spc="-120">
                <a:solidFill>
                  <a:srgbClr val="F3ECDF"/>
                </a:solidFill>
                <a:latin typeface="Inter"/>
              </a:rPr>
              <a:t>205/206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0700" y="5905500"/>
            <a:ext cx="3302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8A8175"/>
                </a:solidFill>
                <a:latin typeface="Inter"/>
              </a:rPr>
              <a:t>насанд хүрэгчийн яс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51800" y="5334000"/>
            <a:ext cx="33020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spc="-120">
                <a:solidFill>
                  <a:srgbClr val="F3ECDF"/>
                </a:solidFill>
                <a:latin typeface="Inter"/>
              </a:rPr>
              <a:t>6×25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51800" y="5905500"/>
            <a:ext cx="3302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8A8175"/>
                </a:solidFill>
                <a:latin typeface="Inter"/>
              </a:rPr>
              <a:t>хугаацаатай шалгалт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06400"/>
            <a:ext cx="4445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252">
                <a:solidFill>
                  <a:srgbClr val="A3988A"/>
                </a:solidFill>
                <a:latin typeface="Inter"/>
              </a:rPr>
              <a:t>ДАВУУ ТАЛ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0" y="406400"/>
            <a:ext cx="1422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spc="162">
                <a:solidFill>
                  <a:srgbClr val="A3988A"/>
                </a:solidFill>
                <a:latin typeface="Inter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89000"/>
            <a:ext cx="8890000" cy="63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spc="-144">
                <a:solidFill>
                  <a:srgbClr val="F3ECDF"/>
                </a:solidFill>
                <a:latin typeface="Inter"/>
              </a:rPr>
              <a:t>Яагаад Anatomn.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7000" y="1714500"/>
            <a:ext cx="2413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spc="0">
                <a:solidFill>
                  <a:srgbClr val="E7C3C0"/>
                </a:solidFill>
                <a:latin typeface="Inter"/>
              </a:rPr>
              <a:t>Anatomn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714500"/>
            <a:ext cx="2413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spc="0">
                <a:solidFill>
                  <a:srgbClr val="8A8175"/>
                </a:solidFill>
                <a:latin typeface="Inter"/>
              </a:rPr>
              <a:t>Ном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0" y="1714500"/>
            <a:ext cx="2413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spc="0">
                <a:solidFill>
                  <a:srgbClr val="8A8175"/>
                </a:solidFill>
                <a:latin typeface="Inter"/>
              </a:rPr>
              <a:t>Гадаад 3D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095500"/>
            <a:ext cx="10972800" cy="6350"/>
          </a:xfrm>
          <a:prstGeom prst="rect">
            <a:avLst/>
          </a:prstGeom>
          <a:solidFill>
            <a:srgbClr val="3A42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2463800"/>
            <a:ext cx="2540000" cy="35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spc="0">
                <a:solidFill>
                  <a:srgbClr val="F3ECDF"/>
                </a:solidFill>
                <a:latin typeface="Inter"/>
              </a:rPr>
              <a:t>Монгол хэл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7000" y="2463800"/>
            <a:ext cx="2540000" cy="35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spc="0">
                <a:solidFill>
                  <a:srgbClr val="F3ECDF"/>
                </a:solidFill>
                <a:latin typeface="Inter"/>
              </a:rPr>
              <a:t>Монгол + Латин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463800"/>
            <a:ext cx="2540000" cy="35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A3988A"/>
                </a:solidFill>
                <a:latin typeface="Inter"/>
              </a:rPr>
              <a:t>Хязгаартай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0" y="2463800"/>
            <a:ext cx="2540000" cy="35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A3988A"/>
                </a:solidFill>
                <a:latin typeface="Inter"/>
              </a:rPr>
              <a:t>Зөвхөн English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3048000"/>
            <a:ext cx="10972800" cy="6350"/>
          </a:xfrm>
          <a:prstGeom prst="rect">
            <a:avLst/>
          </a:prstGeom>
          <a:solidFill>
            <a:srgbClr val="2A3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3352800"/>
            <a:ext cx="2540000" cy="35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spc="0">
                <a:solidFill>
                  <a:srgbClr val="F3ECDF"/>
                </a:solidFill>
                <a:latin typeface="Inter"/>
              </a:rPr>
              <a:t>AI багш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7000" y="3352800"/>
            <a:ext cx="2540000" cy="35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spc="0">
                <a:solidFill>
                  <a:srgbClr val="F3ECDF"/>
                </a:solidFill>
                <a:latin typeface="Inter"/>
              </a:rPr>
              <a:t>Gray's дээр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352800"/>
            <a:ext cx="2540000" cy="35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A3988A"/>
                </a:solidFill>
                <a:latin typeface="Inter"/>
              </a:rPr>
              <a:t>Байхгүй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0" y="3352800"/>
            <a:ext cx="2540000" cy="35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A3988A"/>
                </a:solidFill>
                <a:latin typeface="Inter"/>
              </a:rPr>
              <a:t>Байхгүй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3937000"/>
            <a:ext cx="10972800" cy="6350"/>
          </a:xfrm>
          <a:prstGeom prst="rect">
            <a:avLst/>
          </a:prstGeom>
          <a:solidFill>
            <a:srgbClr val="2A3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600" y="4241800"/>
            <a:ext cx="2540000" cy="35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spc="0">
                <a:solidFill>
                  <a:srgbClr val="F3ECDF"/>
                </a:solidFill>
                <a:latin typeface="Inter"/>
              </a:rPr>
              <a:t>Хугарал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7000" y="4241800"/>
            <a:ext cx="2540000" cy="35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spc="0">
                <a:solidFill>
                  <a:srgbClr val="F3ECDF"/>
                </a:solidFill>
                <a:latin typeface="Inter"/>
              </a:rPr>
              <a:t>Лаб дотор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241800"/>
            <a:ext cx="2540000" cy="35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A3988A"/>
                </a:solidFill>
                <a:latin typeface="Inter"/>
              </a:rPr>
              <a:t>Байхгүй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000" y="4241800"/>
            <a:ext cx="2540000" cy="35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A3988A"/>
                </a:solidFill>
                <a:latin typeface="Inter"/>
              </a:rPr>
              <a:t>Өндөр үнэ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" y="4826000"/>
            <a:ext cx="10972800" cy="6350"/>
          </a:xfrm>
          <a:prstGeom prst="rect">
            <a:avLst/>
          </a:prstGeom>
          <a:solidFill>
            <a:srgbClr val="2A3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600" y="5130800"/>
            <a:ext cx="2540000" cy="35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spc="0">
                <a:solidFill>
                  <a:srgbClr val="F3ECDF"/>
                </a:solidFill>
                <a:latin typeface="Inter"/>
              </a:rPr>
              <a:t>Үнэ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7000" y="5130800"/>
            <a:ext cx="2540000" cy="35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spc="0">
                <a:solidFill>
                  <a:srgbClr val="F3ECDF"/>
                </a:solidFill>
                <a:latin typeface="Inter"/>
              </a:rPr>
              <a:t>49,000₮ / жил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5130800"/>
            <a:ext cx="2540000" cy="35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A3988A"/>
                </a:solidFill>
                <a:latin typeface="Inter"/>
              </a:rPr>
              <a:t>Ном авна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5000" y="5130800"/>
            <a:ext cx="2540000" cy="35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A3988A"/>
                </a:solidFill>
                <a:latin typeface="Inter"/>
              </a:rPr>
              <a:t>$80–120 / жил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600" y="5715000"/>
            <a:ext cx="10972800" cy="6350"/>
          </a:xfrm>
          <a:prstGeom prst="rect">
            <a:avLst/>
          </a:prstGeom>
          <a:solidFill>
            <a:srgbClr val="2A3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06400"/>
            <a:ext cx="4445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252">
                <a:solidFill>
                  <a:srgbClr val="8A8175"/>
                </a:solidFill>
                <a:latin typeface="Inter"/>
              </a:rPr>
              <a:t>ЗАГВАР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0" y="406400"/>
            <a:ext cx="1422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spc="162">
                <a:solidFill>
                  <a:srgbClr val="8A8175"/>
                </a:solidFill>
                <a:latin typeface="Inter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651000"/>
            <a:ext cx="8890000" cy="1079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 spc="-330">
                <a:solidFill>
                  <a:srgbClr val="141816"/>
                </a:solidFill>
                <a:latin typeface="Inter"/>
              </a:rPr>
              <a:t>49,000₮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2857500"/>
            <a:ext cx="5715000" cy="35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spc="0">
                <a:solidFill>
                  <a:srgbClr val="8A8175"/>
                </a:solidFill>
                <a:latin typeface="Inter"/>
              </a:rPr>
              <a:t>нэг суудал · нэг жил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80000"/>
            <a:ext cx="12192000" cy="1778000"/>
          </a:xfrm>
          <a:prstGeom prst="rect">
            <a:avLst/>
          </a:prstGeom>
          <a:solidFill>
            <a:srgbClr val="1418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5461000"/>
            <a:ext cx="57150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spc="-128">
                <a:solidFill>
                  <a:srgbClr val="F3ECDF"/>
                </a:solidFill>
                <a:latin typeface="Inter"/>
              </a:rPr>
              <a:t>49 сая₮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0960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A3988A"/>
                </a:solidFill>
                <a:latin typeface="Inter"/>
              </a:rPr>
              <a:t>1,000 суудал · сургууль төлдөг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5524500"/>
            <a:ext cx="45974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F3ECDF"/>
                </a:solidFill>
                <a:latin typeface="Inter"/>
              </a:rPr>
              <a:t>Оюутан 0₮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5842000"/>
            <a:ext cx="58674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spc="0">
                <a:solidFill>
                  <a:srgbClr val="A3988A"/>
                </a:solidFill>
                <a:latin typeface="Inter"/>
              </a:rPr>
              <a:t>Гадуурх багц 9,900₮ / сар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06400"/>
            <a:ext cx="4445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252">
                <a:solidFill>
                  <a:srgbClr val="A3988A"/>
                </a:solidFill>
                <a:latin typeface="Inter"/>
              </a:rPr>
              <a:t>1,000 ОЮУТАН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0" y="406400"/>
            <a:ext cx="1422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spc="162">
                <a:solidFill>
                  <a:srgbClr val="A3988A"/>
                </a:solidFill>
                <a:latin typeface="Inter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540000"/>
            <a:ext cx="3429000" cy="698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spc="-190">
                <a:solidFill>
                  <a:srgbClr val="F3ECDF"/>
                </a:solidFill>
                <a:latin typeface="Inter"/>
              </a:rPr>
              <a:t>972 сая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302000"/>
            <a:ext cx="34290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A3988A"/>
                </a:solidFill>
                <a:latin typeface="Inter"/>
              </a:rPr>
              <a:t>номын төсөв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68800" y="2540000"/>
            <a:ext cx="3429000" cy="698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spc="-190">
                <a:solidFill>
                  <a:srgbClr val="F3ECDF"/>
                </a:solidFill>
                <a:latin typeface="Inter"/>
              </a:rPr>
              <a:t>49 сая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68800" y="3302000"/>
            <a:ext cx="34290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A3988A"/>
                </a:solidFill>
                <a:latin typeface="Inter"/>
              </a:rPr>
              <a:t>лиценз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0" y="2540000"/>
            <a:ext cx="3429000" cy="698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spc="-190">
                <a:solidFill>
                  <a:srgbClr val="9D2C2C"/>
                </a:solidFill>
                <a:latin typeface="Inter"/>
              </a:rPr>
              <a:t>923 сая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0" y="3302000"/>
            <a:ext cx="34290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A3988A"/>
                </a:solidFill>
                <a:latin typeface="Inter"/>
              </a:rPr>
              <a:t>зөрүү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350000"/>
            <a:ext cx="10972800" cy="35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spc="0">
                <a:solidFill>
                  <a:srgbClr val="6F675E"/>
                </a:solidFill>
                <a:latin typeface="Inter"/>
              </a:rPr>
              <a:t>АШУҮИС 14,200 суралцагч, 2026.10.28. Кредит 170,000₮ × ~30 = 5.1 сая, Eguur 2025.08.20. 3 ном ≈ жилийн төлбөрийн 19%.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06400"/>
            <a:ext cx="4445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252">
                <a:solidFill>
                  <a:srgbClr val="8A8175"/>
                </a:solidFill>
                <a:latin typeface="Inter"/>
              </a:rPr>
              <a:t>ХҮСЭЛТ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0" y="406400"/>
            <a:ext cx="1422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spc="162">
                <a:solidFill>
                  <a:srgbClr val="8A8175"/>
                </a:solidFill>
                <a:latin typeface="Inter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778000"/>
            <a:ext cx="10160000" cy="101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spc="-270">
                <a:solidFill>
                  <a:srgbClr val="141816"/>
                </a:solidFill>
                <a:latin typeface="Inter"/>
              </a:rPr>
              <a:t>1,000 суудал.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556000"/>
            <a:ext cx="10160000" cy="444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9D2C2C"/>
                </a:solidFill>
                <a:latin typeface="Inter"/>
              </a:rPr>
              <a:t>anatomn-test.vercel.app/atlas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096000"/>
            <a:ext cx="889000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spc="0">
                <a:solidFill>
                  <a:srgbClr val="8A8175"/>
                </a:solidFill>
                <a:latin typeface="Inter"/>
              </a:rPr>
              <a:t>АШУҮИС · нэг холбоос · зузаан номгүй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Anatomn — Hackathon</dc:title>
  <dc:subject>АШУҮИС · 1,000 оюутан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